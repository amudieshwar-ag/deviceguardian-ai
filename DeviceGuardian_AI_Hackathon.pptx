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5" r:id="rId10"/>
    <p:sldId id="264" r:id="rId11"/>
  </p:sldIdLst>
  <p:sldSz cx="18288000" cy="10287000"/>
  <p:notesSz cx="6858000" cy="9144000"/>
  <p:embeddedFontLst>
    <p:embeddedFont>
      <p:font typeface="TT Hoves" panose="020B0604020202020204" charset="0"/>
      <p:regular r:id="rId13"/>
    </p:embeddedFont>
    <p:embeddedFont>
      <p:font typeface="TT Hov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4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36173-C062-42B6-8721-904EA8447B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E2818-042F-4011-AE15-C3353F4AD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13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E2818-042F-4011-AE15-C3353F4AD28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78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79318" y="2287880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9" y="0"/>
                </a:lnTo>
                <a:lnTo>
                  <a:pt x="11221859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253964"/>
            <a:chOff x="0" y="0"/>
            <a:chExt cx="4816593" cy="330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0262"/>
            </a:xfrm>
            <a:custGeom>
              <a:avLst/>
              <a:gdLst/>
              <a:ahLst/>
              <a:cxnLst/>
              <a:rect l="l" t="t" r="r" b="b"/>
              <a:pathLst>
                <a:path w="4816592" h="330262">
                  <a:moveTo>
                    <a:pt x="0" y="0"/>
                  </a:moveTo>
                  <a:lnTo>
                    <a:pt x="4816592" y="0"/>
                  </a:lnTo>
                  <a:lnTo>
                    <a:pt x="4816592" y="330262"/>
                  </a:lnTo>
                  <a:lnTo>
                    <a:pt x="0" y="330262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16593" cy="387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101781" y="193938"/>
            <a:ext cx="4084437" cy="912191"/>
          </a:xfrm>
          <a:custGeom>
            <a:avLst/>
            <a:gdLst/>
            <a:ahLst/>
            <a:cxnLst/>
            <a:rect l="l" t="t" r="r" b="b"/>
            <a:pathLst>
              <a:path w="4084437" h="912191">
                <a:moveTo>
                  <a:pt x="0" y="0"/>
                </a:moveTo>
                <a:lnTo>
                  <a:pt x="4084438" y="0"/>
                </a:lnTo>
                <a:lnTo>
                  <a:pt x="4084438" y="912191"/>
                </a:lnTo>
                <a:lnTo>
                  <a:pt x="0" y="912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22871" y="1028700"/>
            <a:ext cx="8242257" cy="2076328"/>
          </a:xfrm>
          <a:custGeom>
            <a:avLst/>
            <a:gdLst/>
            <a:ahLst/>
            <a:cxnLst/>
            <a:rect l="l" t="t" r="r" b="b"/>
            <a:pathLst>
              <a:path w="8242257" h="2076328">
                <a:moveTo>
                  <a:pt x="0" y="0"/>
                </a:moveTo>
                <a:lnTo>
                  <a:pt x="8242258" y="0"/>
                </a:lnTo>
                <a:lnTo>
                  <a:pt x="8242258" y="2076328"/>
                </a:lnTo>
                <a:lnTo>
                  <a:pt x="0" y="2076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7742" b="-15922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88959" y="2769894"/>
            <a:ext cx="3510082" cy="670267"/>
          </a:xfrm>
          <a:custGeom>
            <a:avLst/>
            <a:gdLst/>
            <a:ahLst/>
            <a:cxnLst/>
            <a:rect l="l" t="t" r="r" b="b"/>
            <a:pathLst>
              <a:path w="3510082" h="670267">
                <a:moveTo>
                  <a:pt x="0" y="0"/>
                </a:moveTo>
                <a:lnTo>
                  <a:pt x="3510082" y="0"/>
                </a:lnTo>
                <a:lnTo>
                  <a:pt x="3510082" y="670267"/>
                </a:lnTo>
                <a:lnTo>
                  <a:pt x="0" y="670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33761" y="4195803"/>
            <a:ext cx="10910396" cy="102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DeviceGuardian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3761" y="5269589"/>
            <a:ext cx="13230039" cy="3966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b="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Track: </a:t>
            </a: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AI-powered Predictive Maintenance</a:t>
            </a:r>
          </a:p>
          <a:p>
            <a:pPr algn="l">
              <a:lnSpc>
                <a:spcPts val="4381"/>
              </a:lnSpc>
            </a:pPr>
            <a:r>
              <a:rPr lang="en-US" sz="4381" b="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Team name: </a:t>
            </a: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System Hackers</a:t>
            </a:r>
          </a:p>
          <a:p>
            <a:pPr algn="l">
              <a:lnSpc>
                <a:spcPts val="4381"/>
              </a:lnSpc>
            </a:pPr>
            <a:r>
              <a:rPr lang="en-US" sz="4381" b="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Team members:</a:t>
            </a:r>
          </a:p>
          <a:p>
            <a:pPr marL="542925" indent="3219450" algn="l">
              <a:lnSpc>
                <a:spcPts val="4381"/>
              </a:lnSpc>
            </a:pP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4381" spc="-87" dirty="0" err="1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Amudieshwar</a:t>
            </a: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AG</a:t>
            </a:r>
          </a:p>
          <a:p>
            <a:pPr marL="542925" indent="3219450" algn="l">
              <a:lnSpc>
                <a:spcPts val="4381"/>
              </a:lnSpc>
            </a:pP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Ashwin Kumaar B</a:t>
            </a:r>
          </a:p>
          <a:p>
            <a:pPr marL="542925" indent="3219450" algn="l">
              <a:lnSpc>
                <a:spcPts val="4381"/>
              </a:lnSpc>
            </a:pP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Bharat T</a:t>
            </a:r>
          </a:p>
          <a:p>
            <a:pPr marL="542925" indent="3219450" algn="l">
              <a:lnSpc>
                <a:spcPts val="4381"/>
              </a:lnSpc>
            </a:pP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4381" spc="-87" dirty="0" err="1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Buvaneshvaran</a:t>
            </a:r>
            <a:r>
              <a:rPr lang="en-US" sz="4381" spc="-87" dirty="0">
                <a:solidFill>
                  <a:srgbClr val="34343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267151" cy="10287000"/>
            <a:chOff x="0" y="0"/>
            <a:chExt cx="59711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7110" cy="2709333"/>
            </a:xfrm>
            <a:custGeom>
              <a:avLst/>
              <a:gdLst/>
              <a:ahLst/>
              <a:cxnLst/>
              <a:rect l="l" t="t" r="r" b="b"/>
              <a:pathLst>
                <a:path w="597110" h="2709333">
                  <a:moveTo>
                    <a:pt x="0" y="0"/>
                  </a:moveTo>
                  <a:lnTo>
                    <a:pt x="597110" y="0"/>
                  </a:lnTo>
                  <a:lnTo>
                    <a:pt x="5971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9711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263798" y="-4131629"/>
            <a:ext cx="7991003" cy="7991003"/>
          </a:xfrm>
          <a:custGeom>
            <a:avLst/>
            <a:gdLst/>
            <a:ahLst/>
            <a:cxnLst/>
            <a:rect l="l" t="t" r="r" b="b"/>
            <a:pathLst>
              <a:path w="7991003" h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0342" y="3821274"/>
            <a:ext cx="8395740" cy="408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Laptops and smartphones fail unpredictably — through battery degradation, overheating, storage failure, or heavy use. Existing tools (Lenovo Vantage, </a:t>
            </a:r>
            <a:r>
              <a:rPr lang="en-US" sz="2399" spc="143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HWMonitor</a:t>
            </a: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Windows Task Manager) only show current status, not future risk.</a:t>
            </a:r>
          </a:p>
          <a:p>
            <a:pPr marL="518157" lvl="1" indent="-259078" algn="l">
              <a:lnSpc>
                <a:spcPts val="3239"/>
              </a:lnSpc>
              <a:buFont typeface="Arial"/>
              <a:buChar char="•"/>
            </a:pP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Will my SSD fail in the next few months?</a:t>
            </a:r>
          </a:p>
          <a:p>
            <a:pPr marL="518157" lvl="1" indent="-259078" algn="l">
              <a:lnSpc>
                <a:spcPts val="3239"/>
              </a:lnSpc>
              <a:buFont typeface="Arial"/>
              <a:buChar char="•"/>
            </a:pP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Why is my battery degrading faster than normal?</a:t>
            </a:r>
          </a:p>
          <a:p>
            <a:pPr marL="518157" lvl="1" indent="-259078" algn="l">
              <a:lnSpc>
                <a:spcPts val="3239"/>
              </a:lnSpc>
              <a:buFont typeface="Arial"/>
              <a:buChar char="•"/>
            </a:pP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Is my laptop continuously overheating?</a:t>
            </a:r>
          </a:p>
          <a:p>
            <a:pPr marL="518157" lvl="1" indent="-259078" algn="l">
              <a:lnSpc>
                <a:spcPts val="3239"/>
              </a:lnSpc>
              <a:buFont typeface="Arial"/>
              <a:buChar char="•"/>
            </a:pPr>
            <a:r>
              <a:rPr lang="en-US" sz="2399" spc="143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Left unanswered: unexpected failures, higher repair costs, data loss, device downtime. The gap isn’t monitoring — it’s foresight.</a:t>
            </a:r>
          </a:p>
          <a:p>
            <a:pPr algn="just">
              <a:lnSpc>
                <a:spcPts val="3239"/>
              </a:lnSpc>
            </a:pPr>
            <a:endParaRPr lang="en-US" sz="2399" spc="143" dirty="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0" lvl="0" indent="0" algn="just">
              <a:lnSpc>
                <a:spcPts val="3239"/>
              </a:lnSpc>
              <a:spcBef>
                <a:spcPct val="0"/>
              </a:spcBef>
            </a:pPr>
            <a:endParaRPr lang="en-US" sz="2399" spc="143" dirty="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40342" y="578588"/>
            <a:ext cx="9760574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0" y="-2542387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2000" y="2493165"/>
            <a:ext cx="12263955" cy="6949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lnSpc>
                <a:spcPts val="3240"/>
              </a:lnSpc>
              <a:buFont typeface="Arial"/>
              <a:buChar char="•"/>
            </a:pP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DeviceGuardian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is an AI-powered predictive device health platform that continuously monitors laptops and Android smartphones, analyzes real-time telemetry, predicts potential hardware failures before they occur, explains every prediction using Explainable AI (SHAP), and recommends preventive maintenance actions.</a:t>
            </a:r>
          </a:p>
          <a:p>
            <a:pPr marL="518160" lvl="1" indent="-259080" algn="just">
              <a:lnSpc>
                <a:spcPts val="3240"/>
              </a:lnSpc>
              <a:buFont typeface="Arial"/>
              <a:buChar char="•"/>
            </a:pP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Instead of only displaying the current status (CPU usage, battery level, SSD health), 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DeviceGuardian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calculates an Overall Device Health Score by combining three specialized AI models:🔋 Battery Health Model💾 Storage (SSD) Health Model🌡 Thermal Health Model.</a:t>
            </a:r>
          </a:p>
          <a:p>
            <a:pPr marL="518160" lvl="1" indent="-259080" algn="just">
              <a:lnSpc>
                <a:spcPts val="3240"/>
              </a:lnSpc>
              <a:buFont typeface="Arial"/>
              <a:buChar char="•"/>
            </a:pP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platform supports Windows laptops through a lightweight background monitoring agent and Android smartphones through Flutter's native APIs. Both devices send telemetry to a unified 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FastAPI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+ PostgreSQL backend, where AI models analyze the data and return predictions to a single Flutter application.</a:t>
            </a:r>
          </a:p>
          <a:p>
            <a:pPr marL="518160" lvl="1" indent="-259080" algn="just">
              <a:lnSpc>
                <a:spcPts val="3240"/>
              </a:lnSpc>
              <a:buFont typeface="Arial"/>
              <a:buChar char="•"/>
            </a:pP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By shifting from reactive monitoring to predictive maintenance, 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DeviceGuardian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helps users reduce unexpected failures, extend device lifespan, minimize downtime, and lower electronic waste.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71343" y="997613"/>
            <a:ext cx="11919787" cy="202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sz="8000" b="1" spc="-384" dirty="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PROPOSED SOLUTION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214010" y="0"/>
            <a:ext cx="4073990" cy="10287000"/>
            <a:chOff x="0" y="0"/>
            <a:chExt cx="107298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2985" cy="2709333"/>
            </a:xfrm>
            <a:custGeom>
              <a:avLst/>
              <a:gdLst/>
              <a:ahLst/>
              <a:cxnLst/>
              <a:rect l="l" t="t" r="r" b="b"/>
              <a:pathLst>
                <a:path w="1072985" h="2709333">
                  <a:moveTo>
                    <a:pt x="0" y="0"/>
                  </a:moveTo>
                  <a:lnTo>
                    <a:pt x="1072985" y="0"/>
                  </a:lnTo>
                  <a:lnTo>
                    <a:pt x="107298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72985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" b="-432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6789" y="-2986203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24000" y="2781300"/>
            <a:ext cx="10820400" cy="6539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Architecture: 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Flutter (mobile UI) → REST API → 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FastAPI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backend → PostgreSQL + AI engine. Telemetry ingested from Windows agent (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psutil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WMI, pywin32, </a:t>
            </a:r>
            <a:r>
              <a:rPr lang="en-US" sz="2400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LibreHardwareMonitor</a:t>
            </a: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 or Android Flutter APIs.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backend acts as the central intelligence layer, receiving telemetry, storing historical data, executing AI models, and returning predictions to the Flutter application.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AI Pipeline: </a:t>
            </a: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Data cleaning → Feature engineering (rolling averages, battery drain rate, SSD error growth, temperature trends) → </a:t>
            </a:r>
            <a:r>
              <a:rPr lang="en-US" sz="2400" u="none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XGBoost</a:t>
            </a: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prediction → Isolation Forest anomaly detection → SHAP explainability → Recommendation engine.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Training datasets: </a:t>
            </a: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NASA Battery Dataset, CALCE Battery Dataset, </a:t>
            </a:r>
            <a:r>
              <a:rPr lang="en-US" sz="2400" u="none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Backblaze</a:t>
            </a: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SMART Dataset, AI4I 2020 Predictive Maintenance Dataset. Models trained offline; live telemetry feeds inference and future retraining.</a:t>
            </a:r>
          </a:p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endParaRPr lang="en-US" sz="2400" u="none" spc="144" dirty="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71342" y="997613"/>
            <a:ext cx="11663657" cy="100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sz="8000" b="1" spc="-384" dirty="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TECHNICAL APPROACH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214010" y="0"/>
            <a:ext cx="4073990" cy="10287000"/>
            <a:chOff x="0" y="0"/>
            <a:chExt cx="107298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2985" cy="2709333"/>
            </a:xfrm>
            <a:custGeom>
              <a:avLst/>
              <a:gdLst/>
              <a:ahLst/>
              <a:cxnLst/>
              <a:rect l="l" t="t" r="r" b="b"/>
              <a:pathLst>
                <a:path w="1072985" h="2709333">
                  <a:moveTo>
                    <a:pt x="0" y="0"/>
                  </a:moveTo>
                  <a:lnTo>
                    <a:pt x="1072985" y="0"/>
                  </a:lnTo>
                  <a:lnTo>
                    <a:pt x="107298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72985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" b="-43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33657" y="2712289"/>
            <a:ext cx="13935782" cy="13935782"/>
          </a:xfrm>
          <a:custGeom>
            <a:avLst/>
            <a:gdLst/>
            <a:ahLst/>
            <a:cxnLst/>
            <a:rect l="l" t="t" r="r" b="b"/>
            <a:pathLst>
              <a:path w="13935782" h="13935782">
                <a:moveTo>
                  <a:pt x="0" y="0"/>
                </a:moveTo>
                <a:lnTo>
                  <a:pt x="13935782" y="0"/>
                </a:lnTo>
                <a:lnTo>
                  <a:pt x="13935782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3700" y="970261"/>
            <a:ext cx="12904143" cy="202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sz="8000" b="1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TECHNOLOGY STACK &amp; FUTURE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700" y="2994642"/>
            <a:ext cx="13082300" cy="5308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800" b="1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Technology Stack: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Frontend: Flutter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Backend: </a:t>
            </a:r>
            <a:r>
              <a:rPr lang="en-US" sz="2400" spc="14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FastAPI</a:t>
            </a:r>
            <a:endParaRPr lang="en-US" sz="2400" spc="14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Database: PostgreSQL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Windows Monitoring Agent: Python (</a:t>
            </a:r>
            <a:r>
              <a:rPr lang="en-US" sz="2400" spc="14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psutil</a:t>
            </a: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WMI, pywin32, </a:t>
            </a:r>
            <a:r>
              <a:rPr lang="en-US" sz="2400" spc="14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LibreHardwareMonitor</a:t>
            </a: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AI &amp; Analytics: </a:t>
            </a:r>
            <a:r>
              <a:rPr lang="en-US" sz="2400" spc="14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XGBoost</a:t>
            </a: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Isolation Forest, SHAP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Notifications: Firebase Cloud Messaging</a:t>
            </a:r>
          </a:p>
          <a:p>
            <a:pPr algn="just">
              <a:lnSpc>
                <a:spcPts val="3240"/>
              </a:lnSpc>
            </a:pPr>
            <a:r>
              <a:rPr lang="en-US" sz="2800" b="1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Future Roadmap: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Support macOS, Linux, Smart TVs, Routers, Printers, and IoT devices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Enterprise fleet monitoring and centralized analytics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Continuous AI model retraining using historical telemetry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OEM and service center integration for predictive maintenance</a:t>
            </a:r>
          </a:p>
          <a:p>
            <a:pPr algn="just">
              <a:lnSpc>
                <a:spcPts val="3240"/>
              </a:lnSpc>
            </a:pPr>
            <a:r>
              <a:rPr lang="en-US" sz="2400" spc="14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Support SDG 9 (Innovation) and SDG 12 (Responsible Consumption)</a:t>
            </a:r>
            <a:endParaRPr lang="en-US" sz="2400" u="none" spc="14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4207602" y="0"/>
            <a:ext cx="4080398" cy="10287000"/>
            <a:chOff x="0" y="0"/>
            <a:chExt cx="107467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4673" cy="2709333"/>
            </a:xfrm>
            <a:custGeom>
              <a:avLst/>
              <a:gdLst/>
              <a:ahLst/>
              <a:cxnLst/>
              <a:rect l="l" t="t" r="r" b="b"/>
              <a:pathLst>
                <a:path w="1074673" h="2709333">
                  <a:moveTo>
                    <a:pt x="0" y="0"/>
                  </a:moveTo>
                  <a:lnTo>
                    <a:pt x="1074673" y="0"/>
                  </a:lnTo>
                  <a:lnTo>
                    <a:pt x="107467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7467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" b="-432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80310" y="4516755"/>
            <a:ext cx="11327380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Live Device Health Dashboard with Real-Time AI Prediction &amp; SHAP Explanation</a:t>
            </a:r>
          </a:p>
          <a:p>
            <a:pPr algn="ctr">
              <a:lnSpc>
                <a:spcPts val="4680"/>
              </a:lnSpc>
            </a:pPr>
            <a:endParaRPr lang="en-US" sz="3000" dirty="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76861" y="592772"/>
            <a:ext cx="12013863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760"/>
              </a:lnSpc>
              <a:spcBef>
                <a:spcPct val="0"/>
              </a:spcBef>
            </a:pPr>
            <a:r>
              <a:rPr lang="en-US" sz="8000" b="1" u="none" strike="noStrike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id="4" name="Freeform 4"/>
          <p:cNvSpPr/>
          <p:nvPr/>
        </p:nvSpPr>
        <p:spPr>
          <a:xfrm>
            <a:off x="9555412" y="-7939543"/>
            <a:ext cx="14102688" cy="14102688"/>
          </a:xfrm>
          <a:custGeom>
            <a:avLst/>
            <a:gdLst/>
            <a:ahLst/>
            <a:cxnLst/>
            <a:rect l="l" t="t" r="r" b="b"/>
            <a:pathLst>
              <a:path w="14102688" h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D553225-DACB-4870-98D3-EFA47D50E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87" y="1441122"/>
            <a:ext cx="16771313" cy="7795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861" y="592772"/>
            <a:ext cx="12013863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760"/>
              </a:lnSpc>
              <a:spcBef>
                <a:spcPct val="0"/>
              </a:spcBef>
            </a:pPr>
            <a:r>
              <a:rPr lang="en-US" sz="8000" b="1" u="none" strike="noStrike" spc="-384" dirty="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id="4" name="Freeform 4"/>
          <p:cNvSpPr/>
          <p:nvPr/>
        </p:nvSpPr>
        <p:spPr>
          <a:xfrm>
            <a:off x="9555412" y="-7939543"/>
            <a:ext cx="14102688" cy="14102688"/>
          </a:xfrm>
          <a:custGeom>
            <a:avLst/>
            <a:gdLst/>
            <a:ahLst/>
            <a:cxnLst/>
            <a:rect l="l" t="t" r="r" b="b"/>
            <a:pathLst>
              <a:path w="14102688" h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0EC5340-D0D0-B8FF-17E6-F520861B9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36078"/>
            <a:ext cx="16687800" cy="7665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143000" y="1751887"/>
            <a:ext cx="17907000" cy="1149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│</a:t>
            </a:r>
          </a:p>
          <a:p>
            <a:pPr algn="ctr">
              <a:lnSpc>
                <a:spcPts val="4680"/>
              </a:lnSpc>
            </a:pPr>
            <a:r>
              <a:rPr lang="en-US" sz="3000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                     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861" y="592772"/>
            <a:ext cx="12013863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760"/>
              </a:lnSpc>
              <a:spcBef>
                <a:spcPct val="0"/>
              </a:spcBef>
            </a:pPr>
            <a:r>
              <a:rPr lang="en-US" sz="8000" b="1" u="none" strike="noStrike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id="4" name="Freeform 4"/>
          <p:cNvSpPr/>
          <p:nvPr/>
        </p:nvSpPr>
        <p:spPr>
          <a:xfrm>
            <a:off x="10058400" y="-10325100"/>
            <a:ext cx="14102688" cy="14102688"/>
          </a:xfrm>
          <a:custGeom>
            <a:avLst/>
            <a:gdLst/>
            <a:ahLst/>
            <a:cxnLst/>
            <a:rect l="l" t="t" r="r" b="b"/>
            <a:pathLst>
              <a:path w="14102688" h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EAEFB-EE94-5FE1-04E7-941270EAB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636078"/>
            <a:ext cx="16154400" cy="7626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4AECD-4788-F0D2-A444-CAAF7B39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2B6984D-B928-0539-8CD2-FA7E01D1DB54}"/>
              </a:ext>
            </a:extLst>
          </p:cNvPr>
          <p:cNvSpPr txBox="1"/>
          <p:nvPr/>
        </p:nvSpPr>
        <p:spPr>
          <a:xfrm>
            <a:off x="476861" y="592772"/>
            <a:ext cx="12013863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760"/>
              </a:lnSpc>
              <a:spcBef>
                <a:spcPct val="0"/>
              </a:spcBef>
            </a:pPr>
            <a:r>
              <a:rPr lang="en-US" sz="8000" b="1" u="none" strike="noStrike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5704026-3DF8-9CFA-6CF9-A6739854C99D}"/>
              </a:ext>
            </a:extLst>
          </p:cNvPr>
          <p:cNvSpPr/>
          <p:nvPr/>
        </p:nvSpPr>
        <p:spPr>
          <a:xfrm>
            <a:off x="9555412" y="-7939543"/>
            <a:ext cx="14102688" cy="14102688"/>
          </a:xfrm>
          <a:custGeom>
            <a:avLst/>
            <a:gdLst/>
            <a:ahLst/>
            <a:cxnLst/>
            <a:rect l="l" t="t" r="r" b="b"/>
            <a:pathLst>
              <a:path w="14102688" h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715A1FE-AD1E-545C-874C-94CD16489703}"/>
              </a:ext>
            </a:extLst>
          </p:cNvPr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2B3025-F5C4-D9FA-323C-5C6FC429091F}"/>
              </a:ext>
            </a:extLst>
          </p:cNvPr>
          <p:cNvGrpSpPr/>
          <p:nvPr/>
        </p:nvGrpSpPr>
        <p:grpSpPr>
          <a:xfrm>
            <a:off x="0" y="9518154"/>
            <a:ext cx="18288000" cy="768846"/>
            <a:chOff x="0" y="0"/>
            <a:chExt cx="4816593" cy="2709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0D8A5C9-1AAD-9E8A-3182-D72473EAEFD3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013A99E-3E9B-1DC1-22A9-195B48552635}"/>
                </a:ext>
              </a:extLst>
            </p:cNvPr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C48A736-ED27-AAF8-3857-BA2ECEAA4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53070"/>
            <a:ext cx="8503989" cy="7424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EA59D2-2D8B-D9A6-5F3C-935D3643F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89" y="1853070"/>
            <a:ext cx="8503988" cy="744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15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6356" y="2281825"/>
            <a:ext cx="13143244" cy="6091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400" b="1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Datasets &amp; Research: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NASA Battery Dataset — Battery aging and remaining-useful-life cycles (nasa.gov/battery)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CALCE Battery Dataset (Univ. of Maryland) — Cross-validation for battery degradation patterns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pc="144" dirty="0" err="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Backblaze</a:t>
            </a: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SMART Dataset — Millions of real hard-drive/SSD SMART records with failure labels (backblaze.com/cloud-storage/resources/hard-drive-test-data)</a:t>
            </a:r>
          </a:p>
          <a:p>
            <a:pPr marL="518160" lvl="1" indent="-259080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AI4I 2020 Predictive Maintenance Dataset — UCI Machine Learning Repository (archive.ics.uci.edu)</a:t>
            </a:r>
          </a:p>
          <a:p>
            <a:pPr marL="259080" lvl="1" algn="just">
              <a:lnSpc>
                <a:spcPts val="3240"/>
              </a:lnSpc>
              <a:spcBef>
                <a:spcPct val="0"/>
              </a:spcBef>
            </a:pPr>
            <a:r>
              <a:rPr lang="en-US" sz="2400" b="1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Research Inspiration: </a:t>
            </a:r>
          </a:p>
          <a:p>
            <a:pPr marL="601980" lvl="1" indent="-342900" algn="just">
              <a:lnSpc>
                <a:spcPts val="3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Predictive Maintenance using Machine Learning</a:t>
            </a:r>
          </a:p>
          <a:p>
            <a:pPr marL="601980" lvl="1" indent="-342900" algn="just">
              <a:lnSpc>
                <a:spcPts val="3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Explainable AI (SHAP)</a:t>
            </a:r>
          </a:p>
          <a:p>
            <a:pPr marL="601980" lvl="1" indent="-342900" algn="just">
              <a:lnSpc>
                <a:spcPts val="3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Battery Remaining Useful Life (RUL) Prediction</a:t>
            </a:r>
          </a:p>
          <a:p>
            <a:pPr marL="601980" lvl="1" indent="-342900" algn="just">
              <a:lnSpc>
                <a:spcPts val="3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pc="144" dirty="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SMART-based Storage Failure Prediction</a:t>
            </a:r>
          </a:p>
          <a:p>
            <a:pPr marL="0" lvl="0" indent="0" algn="just">
              <a:lnSpc>
                <a:spcPts val="2699"/>
              </a:lnSpc>
              <a:spcBef>
                <a:spcPct val="0"/>
              </a:spcBef>
            </a:pPr>
            <a:endParaRPr lang="en-US" sz="2400" u="none" spc="144" dirty="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06356" y="1133475"/>
            <a:ext cx="76390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8000" b="1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REFERENCES</a:t>
            </a:r>
          </a:p>
        </p:txBody>
      </p:sp>
      <p:sp>
        <p:nvSpPr>
          <p:cNvPr id="4" name="Freeform 4"/>
          <p:cNvSpPr/>
          <p:nvPr/>
        </p:nvSpPr>
        <p:spPr>
          <a:xfrm>
            <a:off x="9560011" y="-2564899"/>
            <a:ext cx="16075318" cy="16075318"/>
          </a:xfrm>
          <a:custGeom>
            <a:avLst/>
            <a:gdLst/>
            <a:ahLst/>
            <a:cxnLst/>
            <a:rect l="l" t="t" r="r" b="b"/>
            <a:pathLst>
              <a:path w="16075318" h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36137" y="388088"/>
            <a:ext cx="3469731" cy="881890"/>
          </a:xfrm>
          <a:custGeom>
            <a:avLst/>
            <a:gdLst/>
            <a:ahLst/>
            <a:cxnLst/>
            <a:rect l="l" t="t" r="r" b="b"/>
            <a:pathLst>
              <a:path w="3469731" h="881890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647716" cy="10287000"/>
            <a:chOff x="0" y="0"/>
            <a:chExt cx="43396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966" cy="2709333"/>
            </a:xfrm>
            <a:custGeom>
              <a:avLst/>
              <a:gdLst/>
              <a:ahLst/>
              <a:cxnLst/>
              <a:rect l="l" t="t" r="r" b="b"/>
              <a:pathLst>
                <a:path w="433966" h="2709333">
                  <a:moveTo>
                    <a:pt x="0" y="0"/>
                  </a:moveTo>
                  <a:lnTo>
                    <a:pt x="433966" y="0"/>
                  </a:lnTo>
                  <a:lnTo>
                    <a:pt x="43396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3396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662</Words>
  <Application>Microsoft Office PowerPoint</Application>
  <PresentationFormat>Custom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Arial</vt:lpstr>
      <vt:lpstr>TT Hoves</vt:lpstr>
      <vt:lpstr>Calibri</vt:lpstr>
      <vt:lpstr>TT Hoves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RCX PPT TEMPLATE</dc:title>
  <dc:creator>T Bharat</dc:creator>
  <cp:lastModifiedBy>Amudieshwar A G</cp:lastModifiedBy>
  <cp:revision>4</cp:revision>
  <dcterms:created xsi:type="dcterms:W3CDTF">2006-08-16T00:00:00Z</dcterms:created>
  <dcterms:modified xsi:type="dcterms:W3CDTF">2026-07-09T11:16:43Z</dcterms:modified>
  <dc:identifier>DAHOw_fmpZI</dc:identifier>
</cp:coreProperties>
</file>